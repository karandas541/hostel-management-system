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" cy="3474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818CF8"/>
                </a:solidFill>
                <a:latin typeface="Arial"/>
              </a:defRPr>
            </a:pPr>
            <a:r>
              <a:t>ACADEMIC CAPSTONE PROJECT • REVIEW 1 &amp; REVIEW 2</a:t>
            </a:r>
          </a:p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Hostel Management System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An Enterprise-Grade, Modular Desktop Application Built with Python, Flet &amp; SQLite</a:t>
            </a:r>
          </a:p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Key Focus: SRS • System Design • CRUD &amp; Core Features • Interactive Dashboard • Visual Reports • TQM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212080"/>
            <a:ext cx="310896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30352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PROJECT STACK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Python 3.13 • Flet SaaS UI •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5212080"/>
            <a:ext cx="310896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530352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TESTING &amp; QUALITY STATUS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28/28 Pytest Verification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5212080"/>
            <a:ext cx="347472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5303520"/>
            <a:ext cx="3108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USER ACCESS ARCHITECTURE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Role-Based Auth (Admin &amp; Student)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1 •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Statement &amp; Need for Digital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EF4444"/>
                </a:solidFill>
                <a:latin typeface="Arial"/>
              </a:defRPr>
            </a:pPr>
            <a:r>
              <a:t>❌ Current Manual &amp; Legacy Challenges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Disorganized Paper Records: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 Student admission forms, room allocations, and documents stored in physical registers lead to data loss and slow retrieval.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Double Allocation Risks: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 Manual room assignments often cause conflicting bed allotments and room overcapacity without real-time inventory.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Opaque Fee Tracking: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 Lack of clear ledgers results in delayed fee collections, untracked partial dues, and disputed cash receipts.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Unresolved Student Grievances: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 Maintenance complaints written in logbooks are frequently missed, poorly prioritized, and lack resolution tracking.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Manual Attendance Overhead: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 Paper-based daily in/out entries require tedious tallying for warden night curfews and leaves.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✅ The Modern Digital Solution (HostelHub)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Centralized SQLite Relational DB: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 Persistent, single-source-of-truth storage with ACID transactions and foreign key integrity constraints.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Live Room &amp; Bed Matrix: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 Automatic occupancy counters preventing double-booking; instant reallocation and room transfer workflows.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Automated Ledger &amp; Receipt Engine: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 Records partial and full payments, calculates remaining dues, and exports formal PDF receipts.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Digital Grievance Cell: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 Role-scoped ticketing system with status tags ('Pending', 'In Progress', 'Resolved') and admin remark logs.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Interactive Multi-Role Dashboards: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 Separate secure views for Administrators (full control) and Students (self-service tracking).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1 •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Quality Objectives &amp; Total Quality Management (TQM)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375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Zero Double Allocations</a:t>
            </a:r>
          </a:p>
          <a:p>
            <a:pPr>
              <a:spcAft>
                <a:spcPts val="600"/>
              </a:spcAft>
              <a:defRPr b="1" sz="1600">
                <a:solidFill>
                  <a:srgbClr val="4F46E5"/>
                </a:solidFill>
              </a:defRPr>
            </a:pPr>
            <a:r>
              <a:t>100% Guaranteed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Database-level constraints and pre-allocation checks guarantee that no bed is ever assigned to two active students simultaneously.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337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Instant Fee Visibility</a:t>
            </a:r>
          </a:p>
          <a:p>
            <a:pPr>
              <a:spcAft>
                <a:spcPts val="600"/>
              </a:spcAft>
              <a:defRPr b="1" sz="1600">
                <a:solidFill>
                  <a:srgbClr val="10B981"/>
                </a:solidFill>
              </a:defRPr>
            </a:pPr>
            <a:r>
              <a:t>&lt; 100 ms Query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Real-time fee ledger updates showing total dues, collected payments, and pending balances instantly across all dashboard 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7160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371600"/>
            <a:ext cx="33375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55448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Role Data Isolation</a:t>
            </a:r>
          </a:p>
          <a:p>
            <a:pPr>
              <a:spcAft>
                <a:spcPts val="600"/>
              </a:spcAft>
              <a:defRPr b="1" sz="1600">
                <a:solidFill>
                  <a:srgbClr val="4F46E5"/>
                </a:solidFill>
              </a:defRPr>
            </a:pPr>
            <a:r>
              <a:t>100% Scoped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Strict authorization barrier: Students can only view their own fees, complaints, room, and feedback records; Admin maintains broad governance.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33375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Quality Feedback Engine</a:t>
            </a:r>
          </a:p>
          <a:p>
            <a:pPr>
              <a:spcAft>
                <a:spcPts val="600"/>
              </a:spcAft>
              <a:defRPr b="1" sz="1600">
                <a:solidFill>
                  <a:srgbClr val="F59E0B"/>
                </a:solidFill>
              </a:defRPr>
            </a:pPr>
            <a:r>
              <a:t>10-Factor TQM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Comprehensive student satisfaction ratings across Cleanliness, Food, Wifi, Security, and Warden Support generating actionable AI guidance.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84048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840480"/>
            <a:ext cx="333756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02336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Data Export Compliance</a:t>
            </a:r>
          </a:p>
          <a:p>
            <a:pPr>
              <a:spcAft>
                <a:spcPts val="600"/>
              </a:spcAft>
              <a:defRPr b="1" sz="1600">
                <a:solidFill>
                  <a:srgbClr val="0D9488"/>
                </a:solidFill>
              </a:defRPr>
            </a:pPr>
            <a:r>
              <a:t>Instant CSV/PDF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Instant generation of auditable CSV sheets and official PDF receipts formatted for university and institutional record audits.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84048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3840480"/>
            <a:ext cx="3337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402336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Reliability &amp; Test Coverage</a:t>
            </a:r>
          </a:p>
          <a:p>
            <a:pPr>
              <a:spcAft>
                <a:spcPts val="600"/>
              </a:spcAft>
              <a:defRPr b="1" sz="1600">
                <a:solidFill>
                  <a:srgbClr val="10B981"/>
                </a:solidFill>
              </a:defRPr>
            </a:pPr>
            <a:r>
              <a:t>28/28 Tests Passed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Full automated end-to-end test suite testing security, CRUD workflows, session lifecycle, and analytics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1 •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Software Requirements Specification (SRS)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62179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280160"/>
                <a:gridCol w="3474720"/>
                <a:gridCol w="73152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Functional Requirement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Auth &amp; RBAC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Authenticate users via bcrypt password hash; enforce role-scoped dashboard views.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Room Allotment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Allocate/deallocate beds, track capacity thresholds, prevent overbooking.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Student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CRUD student records with unique Student IDs, contact details, and parent info.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Fee Management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Issue fee invoices, support partial/full settlement, generate audit trails.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Grievance Cell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Students register categorized tickets; admin updates progress and resolution notes.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Attendance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Log timestamped daily check-ins/check-outs and night curfew leave status.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Reports &amp;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Export official CSV reports and ReportLab PDF receipts for compliance.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FR-08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Theme &amp; Prefs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Persist UI theme (Light/Dark) and profile preferences across active sessions.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223760" y="1371600"/>
            <a:ext cx="42062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4F46E5"/>
                </a:solidFill>
              </a:defRPr>
            </a:pPr>
            <a:r>
              <a:t>🛡️ Non-Functional Requirements (NFRs)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NFR-01: Security &amp; Protection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Bcrypt password hashing with salt, SQL parameterized queries preventing injection, and session token verification.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NFR-02: Low Latency Performance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Sub-second database queries using SQLite PRAGMA indexes; responsive UI powered by Flutter rendering engine.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NFR-03: Data Integrity &amp; ACID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Foreign key cascades, atomic transactions for allocations and payments, rollback on unexpected failure.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NFR-04: Cross-Platform Portability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Built on Python 3 and Flet UI framework; fully compatible with Windows, macOS, and Linux without native changes.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NFR-05: Usability &amp; Ergonomics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Modern SaaS visual layout, keyboard navigation shortcuts, one-click autofills, and responsive theme toggling.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1 • SETUP &amp; SRS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Scope &amp; Role-Based Access Control (RBAC)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4F46E5"/>
                </a:solidFill>
              </a:defRPr>
            </a:pPr>
            <a:r>
              <a:t>👑 Administrator Role (Warden / Management)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Full Student Management: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Enrolls students, edits records, deletes inactive files, and provisions initial student credentials.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Room &amp; Capacity Control: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Creates room inventories, sets capacity thresholds, allocates beds, and processes transfers.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Fee Invoicing &amp; Audits: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Issues fee schedules, marks cash/UPI settlements, verifies balances, and prints reports.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Grievance Resolution: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Views all hostel maintenance tickets, updates status, and enters formal admin resolution notes.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Quality &amp; TQM Analytics: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Accesses quality dashboards, AI facility recommendations, and institutional compliance exports.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Broadcast Announcements: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Publishes hostel-wide notifications and urgent curfew or maintenance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10B981"/>
                </a:solidFill>
              </a:defRPr>
            </a:pPr>
            <a:r>
              <a:t>🎓 Student Resident Role (Resident Self-Service)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Personal Profile Portal: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Views personal admission details, assigned room number, bed number, and contact info.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Isolated Fee History: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Checks personal dues, verifies payment receipt history, and downloads official fee vouchers.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Complaint Registration: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Files maintenance tickets (Electrical, Plumbing, Wifi, Cleanliness) and tracks live status.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Attendance &amp; Curfew Logs: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Self-checks daily timestamped check-in/out records and leaves.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Quality Feedback Submission: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Submits rating evaluations across 8 living parameters for continuous hostel quality improvements.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✔ Account Self-Care: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Changes login password securely and adjusts notification preferences.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1 •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Modular Folder Architecture &amp; Codebase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3891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Courier New"/>
              </a:defRPr>
            </a:pPr>
            <a:r>
              <a:t>HostelManagementSystem/</a:t>
            </a:r>
            <a:br/>
            <a:r>
              <a:t>├── app_flet.py         # Main Flet App Launcher</a:t>
            </a:r>
            <a:br/>
            <a:r>
              <a:t>├── main.py             # Entrypoint &amp; venv resolver</a:t>
            </a:r>
            <a:br/>
            <a:r>
              <a:t>├── database.py         # SQLite Schema &amp; Migration</a:t>
            </a:r>
            <a:br/>
            <a:r>
              <a:t>├── database/hostel.db  # Relational Database File</a:t>
            </a:r>
            <a:br/>
            <a:r>
              <a:t>├── flet_views/         # Modern SaaS Presentation Layer</a:t>
            </a:r>
            <a:br/>
            <a:r>
              <a:t>│   ├── login_view.py       # Dual-Pane Auth Screen</a:t>
            </a:r>
            <a:br/>
            <a:r>
              <a:t>│   ├── dashboard_view.py   # Admin Unified Portal</a:t>
            </a:r>
            <a:br/>
            <a:r>
              <a:t>│   ├── student_dashboard_view.py # Student Portal</a:t>
            </a:r>
            <a:br/>
            <a:r>
              <a:t>│   ├── students_view.py    # CRUD Student Records</a:t>
            </a:r>
            <a:br/>
            <a:r>
              <a:t>│   ├── rooms_view.py       # Live Room Allocation</a:t>
            </a:r>
            <a:br/>
            <a:r>
              <a:t>│   ├── fees_view.py        # Ledger &amp; Invoicing</a:t>
            </a:r>
            <a:br/>
            <a:r>
              <a:t>│   ├── complaints_view.py  # Ticket Management</a:t>
            </a:r>
            <a:br/>
            <a:r>
              <a:t>│   ├── attendance_view.py  # In/Out Curfew Logs</a:t>
            </a:r>
            <a:br/>
            <a:r>
              <a:t>│   ├── feedback_view.py    # TQM Feedback System</a:t>
            </a:r>
            <a:br/>
            <a:r>
              <a:t>│   ├── quality_dashboard_view.py # Analytics Hub</a:t>
            </a:r>
            <a:br/>
            <a:r>
              <a:t>│   ├── reports_view.py     # CSV/PDF Compliance</a:t>
            </a:r>
            <a:br/>
            <a:r>
              <a:t>│   ├── settings_view.py    # Shortcuts &amp; Themes</a:t>
            </a:r>
            <a:br/>
            <a:r>
              <a:t>│   └── theme.py            # Light/Dark Design Tokens</a:t>
            </a:r>
            <a:br/>
            <a:r>
              <a:t>├── services/           # Decoupled Business Logic</a:t>
            </a:r>
            <a:br/>
            <a:r>
              <a:t>│   ├── auth_service.py     # Login, Register &amp; Session</a:t>
            </a:r>
            <a:br/>
            <a:r>
              <a:t>│   ├── student_service.py  # Validation &amp; Persistence</a:t>
            </a:r>
            <a:br/>
            <a:r>
              <a:t>│   ├── room_service.py     # Capacity &amp; Bed Control</a:t>
            </a:r>
            <a:br/>
            <a:r>
              <a:t>│   ├── fee_service.py      # Receipts &amp; Dues Calc</a:t>
            </a:r>
            <a:br/>
            <a:r>
              <a:t>│   └── complaint_service.py# Lifecycle &amp; Resolution</a:t>
            </a:r>
            <a:br/>
            <a:r>
              <a:t>├── utils/              # Security &amp; Authorization</a:t>
            </a:r>
            <a:br/>
            <a:r>
              <a:t>│   ├── authorization.py    # Role Guard &amp; Scoping</a:t>
            </a:r>
            <a:br/>
            <a:r>
              <a:t>│   ├── security.py         # Bcrypt Password Hashing</a:t>
            </a:r>
            <a:br/>
            <a:r>
              <a:t>│   └── shortcuts.py        # Global Keyboard Binds</a:t>
            </a:r>
            <a:br/>
            <a:r>
              <a:t>└── tests/              # 28 Unit &amp; E2E Pytest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56692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Presentation Layer (`flet_views/`)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Built with modern reactive Flet controls. Implements responsive layouts, interactive modal dialogs, and tokenized Light/Dark theme switching.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606040"/>
            <a:ext cx="56692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69748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Service &amp; Business Logic Layer (`services/`)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Decoupled domain services enforce business rules, capacity validation, data isolation, and fee balance calculations independently of the 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3840480"/>
            <a:ext cx="56692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93192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Security &amp; Utilities Layer (`utils/`)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Enforces bcrypt cryptographic hashing, role-based session guards (`require_role`), keyboard shortcut managers, and data validators.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5074920"/>
            <a:ext cx="56692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516636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Data Persistence Layer (`database/`)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Direct SQLite3 engine with automated schema migrations, foreign key constraints (`PRAGMA foreign_keys = ON`), and connection pooling.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1 •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Database Design &amp; Relational Entity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375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TABLE: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F46E5"/>
                </a:solidFill>
              </a:defRPr>
            </a:pPr>
            <a:r>
              <a:t>Authentication &amp; Access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id (PK)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username (UNIQUE)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email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password_hash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role ('admin'|'student')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student_id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is_active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3375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173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TABLE: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F46E5"/>
                </a:solidFill>
              </a:defRPr>
            </a:pPr>
            <a:r>
              <a:t>Student Demographic Registry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id (PK)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student_id (UNIQUE)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name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gender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phone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email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course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room_number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bed_number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7160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371600"/>
            <a:ext cx="33375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4173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TABLE: ROOMS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18288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F46E5"/>
                </a:solidFill>
              </a:defRPr>
            </a:pPr>
            <a:r>
              <a:t>Room Capacity &amp; Allocation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id (PK)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room_number (UNIQUE)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floor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room_type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capacity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occupied_beds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status ('Available'|'Occupied')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33375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TABLE: FEES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F46E5"/>
                </a:solidFill>
              </a:defRPr>
            </a:pPr>
            <a:r>
              <a:t>Invoicing &amp; Financial Ledger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id (PK)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student_id (FK)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amount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due_date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status ('Paid'|'Unpaid'|'Partial')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payment_date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payment_method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840480"/>
            <a:ext cx="33375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TABLE: COMPLAINTS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9768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F46E5"/>
                </a:solidFill>
              </a:defRPr>
            </a:pPr>
            <a:r>
              <a:t>Digital Grievance Cell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id (PK)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student_id (FK)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category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title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description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priority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status ('Pending'|'Resolved')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admin_remarks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84048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840480"/>
            <a:ext cx="33375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388620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TABLE: ATTENDANCE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429768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4F46E5"/>
                </a:solidFill>
              </a:defRPr>
            </a:pPr>
            <a:r>
              <a:t>In/Out Curfew Tracking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id (PK)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student_id (FK)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date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status ('Present'|'Leave'|'Late')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check_in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check_out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• remarks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2 • CRUD &amp;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Review 2: Core Modules &amp; CRUD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MODULE: STUDENT MANAGEMENT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[C] Create: Enrolls students with real-time field validation (Email, Phone, Year).   |   [R] Read: Search by ID/Name, view details, filter by Course/Branch/Status.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[U] Update: Update contact info, course, change status, assign/swap room allotment.   |   [D] Delete: Soft/Hard delete records; cascading room bed release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MODULE: ROOM ALLOTMENT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[C] Create: Registers new rooms with floor, room type (Single, Double, Triple) &amp; capacity.   |   [R] Read: Matrix viewer showing live occupancy progress ring and bed vacancies.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[U] Update: Swap room allocations, re-allocate beds, adjust room maintenance status.   |   [D] Delete: Deallocate students; decrement occupancy counter safely in atomic transaction.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MODULE: FEE &amp; INVOICING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[C] Create: Generate single or recurring student fee dues with due date &amp; descriptions.   |   [R] Read: Filter by Paid, Unpaid, or Partial dues; inspect individual payment histories.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[U] Update: Record full or partial settlement; captures payment date &amp; mode (UPI/Cash).   |   [D] Delete: Rollback incorrect invoice records; archive settled financial transaction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10698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MODULE: GRIEVANCE CELL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[C] Create: Students file categorized tickets (Maintenance, Wifi, Food, Cleanliness).   |   [R] Read: Categorized ticket lists with priority tags (High, Medium, Low) &amp; status.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[U] Update: Admin updates ticket lifecycle ('In Progress', 'Resolved') with remarks.   |   [D] Delete: Close tickets and archive complaints upon resident sign-off.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2 •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Feature Showcase: Interactive Role Dashboards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TOTAL RESIDENTS</a:t>
            </a:r>
          </a:p>
          <a:p>
            <a:pPr>
              <a:defRPr sz="1700" b="1">
                <a:solidFill>
                  <a:srgbClr val="4F46E5"/>
                </a:solidFill>
              </a:defRPr>
            </a:pPr>
            <a:r>
              <a:t>128 Active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Enrolled students across floors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60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17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ROOM OCCUPANCY</a:t>
            </a:r>
          </a:p>
          <a:p>
            <a:pPr>
              <a:defRPr sz="1700" b="1">
                <a:solidFill>
                  <a:srgbClr val="10B981"/>
                </a:solidFill>
              </a:defRPr>
            </a:pPr>
            <a:r>
              <a:t>84.2%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Occupied beds vs total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417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PENDING FEE DUES</a:t>
            </a:r>
          </a:p>
          <a:p>
            <a:pPr>
              <a:defRPr sz="1700" b="1">
                <a:solidFill>
                  <a:srgbClr val="EF4444"/>
                </a:solidFill>
              </a:defRPr>
            </a:pPr>
            <a:r>
              <a:t>₹42,500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Outstanding student balances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603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417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ACTIVE COMPLAINTS</a:t>
            </a:r>
          </a:p>
          <a:p>
            <a:pPr>
              <a:defRPr sz="1700" b="1">
                <a:solidFill>
                  <a:srgbClr val="F59E0B"/>
                </a:solidFill>
              </a:defRPr>
            </a:pPr>
            <a:r>
              <a:t>3 Open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 High Priority, 1 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2120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4F46E5"/>
                </a:solidFill>
              </a:defRPr>
            </a:pPr>
            <a:r>
              <a:t>👑 Administrator Interactive Analytics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Live Occupancy Donut Metrics: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Visual progress breakdown of vacant vs occupied rooms by floor.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Recent Financial Activities: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Chronological feed of latest fee payments with transaction timestamps.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Complaint Resolution Speed: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Calculates average resolution duration and highlights SLA breaches.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TQM Satisfaction Index: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Aggregated star score across 8 living quality dimensions with recommendations.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Quick-Action Launchers: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Direct shortcuts to enroll student, allot room, or record fee settlement.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43200"/>
            <a:ext cx="52120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0B981"/>
                </a:solidFill>
              </a:defRPr>
            </a:pPr>
            <a:r>
              <a:t>🎓 Student Resident Personalized Hub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Room &amp; Roommate Card: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Displays assigned room number, bed number, room type, and fellow roommates.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My Fee Clearance Status: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Shows exact paid amount, balance due date, and download button for receipts.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My Grievance Progress Bar: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Visual step tracker ('Submitted' → 'Under Review' → 'Resolved').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Attendance &amp; Leave Balance: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Curfew compliance meter and past leave approval status.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Hostel Announcements Carousel: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Live notifications broadcast by hostel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2 •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Feature Showcase: Visual Reports &amp; Data Exports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3756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📊 CSV Compliance Exports</a:t>
            </a:r>
          </a:p>
          <a:p>
            <a:pPr>
              <a:spcAft>
                <a:spcPts val="1200"/>
              </a:spcAft>
              <a:defRPr b="1" sz="1000">
                <a:solidFill>
                  <a:srgbClr val="4F46E5"/>
                </a:solidFill>
              </a:defRPr>
            </a:pPr>
            <a:r>
              <a:t>Official Data Auditing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Generates full CSV data sheets for enrolled students, fees collection, and room occupancy.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Complies with institutional audit formats and accreditation reporting standards.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Native save-file dialog (`prompt_save_file`) allowing custom export locations.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Structured headers with complete demographic, financial, and contact fields.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3375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📑 ReportLab Automated PDF Receipts</a:t>
            </a:r>
          </a:p>
          <a:p>
            <a:pPr>
              <a:spcAft>
                <a:spcPts val="1200"/>
              </a:spcAft>
              <a:defRPr b="1" sz="1000">
                <a:solidFill>
                  <a:srgbClr val="0D9488"/>
                </a:solidFill>
              </a:defRPr>
            </a:pPr>
            <a:r>
              <a:t>Instant Fee Documentation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Generates formal, printable PDF receipts whenever a fee payment is recorded.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Includes Institution Header, Student ID, Transaction ID, Mode (UPI/Cash), and Date.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Embeds outstanding balance calculations and official authorized signature stamp area.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Stored securely with auto-naming conventions for easy retrieval.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7160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371600"/>
            <a:ext cx="33375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60020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📈 Total Quality Management (TQM) Analytics</a:t>
            </a:r>
          </a:p>
          <a:p>
            <a:pPr>
              <a:spcAft>
                <a:spcPts val="1200"/>
              </a:spcAft>
              <a:defRPr b="1" sz="1000">
                <a:solidFill>
                  <a:srgbClr val="10B981"/>
                </a:solidFill>
              </a:defRPr>
            </a:pPr>
            <a:r>
              <a:t>AI Facility Guidance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Consolidates student feedback into a 5-star metric dashboard across 8 categories.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Visual comparison bars identify lowest-scoring facilities (e.g., Wifi, Food Quality).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Auto-generates priority recommendations for management facility upgrades.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Continuous improvement cycle aligned with ISO 9001 quality management principles.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2 •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Feature Showcase: Theme Toggle &amp; Modern SaaS Styling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4F46E5"/>
                </a:solidFill>
              </a:defRPr>
            </a:pPr>
            <a:r>
              <a:t>☀️ Clean Slate Light Theme Mode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Background Token (`page`): 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   #F8FAFC (Slate 50) - Soft, low-contrast backdrop.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Surface Card Token (`surface`): 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   #FFFFFF (Pure White) - Crisp card elevation.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Text &amp; Typography (`text`): 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   #0F172A (Slate 950) - Optimal readability.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Subtle Border Token (`border`): 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   #E2E8F0 (Slate 200) - Clean modular separation.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Primary Brand Accent: 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   #6366F1 (Indigo 500) - Modern SaaS visual identity.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Ergonomics &amp; Readability: </a:t>
            </a:r>
          </a:p>
          <a:p>
            <a:pPr>
              <a:spcAft>
                <a:spcPts val="500"/>
              </a:spcAft>
              <a:defRPr sz="950">
                <a:solidFill>
                  <a:srgbClr val="64748B"/>
                </a:solidFill>
              </a:defRPr>
            </a:pPr>
            <a:r>
              <a:t>   Ideal for daytime administrative office operations and report reviews.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818CF8"/>
                </a:solidFill>
              </a:defRPr>
            </a:pPr>
            <a:r>
              <a:t>🌙 True Dark Zinc Theme Mode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• Background Token (`page`): </a:t>
            </a:r>
          </a:p>
          <a:p>
            <a:pPr>
              <a:spcAft>
                <a:spcPts val="500"/>
              </a:spcAft>
              <a:defRPr sz="950">
                <a:solidFill>
                  <a:srgbClr val="94A3B8"/>
                </a:solidFill>
              </a:defRPr>
            </a:pPr>
            <a:r>
              <a:t>   #09090B (Zinc 950) - True dark ocular comfort.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• Surface Card Token (`surface`): </a:t>
            </a:r>
          </a:p>
          <a:p>
            <a:pPr>
              <a:spcAft>
                <a:spcPts val="500"/>
              </a:spcAft>
              <a:defRPr sz="950">
                <a:solidFill>
                  <a:srgbClr val="94A3B8"/>
                </a:solidFill>
              </a:defRPr>
            </a:pPr>
            <a:r>
              <a:t>   #18181B (Zinc 900) - Elevated dark card.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• Text &amp; Typography (`text`): </a:t>
            </a:r>
          </a:p>
          <a:p>
            <a:pPr>
              <a:spcAft>
                <a:spcPts val="500"/>
              </a:spcAft>
              <a:defRPr sz="950">
                <a:solidFill>
                  <a:srgbClr val="94A3B8"/>
                </a:solidFill>
              </a:defRPr>
            </a:pPr>
            <a:r>
              <a:t>   #FAFAFA (Zinc 50) - High contrast crisp white.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• Subtle Border Token (`border`): </a:t>
            </a:r>
          </a:p>
          <a:p>
            <a:pPr>
              <a:spcAft>
                <a:spcPts val="500"/>
              </a:spcAft>
              <a:defRPr sz="950">
                <a:solidFill>
                  <a:srgbClr val="94A3B8"/>
                </a:solidFill>
              </a:defRPr>
            </a:pPr>
            <a:r>
              <a:t>   #3F3F46 (Zinc 700) - Muted visual borders.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• Vibrant Indigo Accent: </a:t>
            </a:r>
          </a:p>
          <a:p>
            <a:pPr>
              <a:spcAft>
                <a:spcPts val="500"/>
              </a:spcAft>
              <a:defRPr sz="950">
                <a:solidFill>
                  <a:srgbClr val="94A3B8"/>
                </a:solidFill>
              </a:defRPr>
            </a:pPr>
            <a:r>
              <a:t>   #818CF8 (Indigo 400) - Glowing neon brand contrast.</a:t>
            </a:r>
          </a:p>
          <a:p>
            <a:pPr>
              <a:defRPr b="1" sz="1050">
                <a:solidFill>
                  <a:srgbClr val="FFFFFF"/>
                </a:solidFill>
              </a:defRPr>
            </a:pPr>
            <a:r>
              <a:t>• Instant Real-Time Toggle: </a:t>
            </a:r>
          </a:p>
          <a:p>
            <a:pPr>
              <a:spcAft>
                <a:spcPts val="500"/>
              </a:spcAft>
              <a:defRPr sz="950">
                <a:solidFill>
                  <a:srgbClr val="94A3B8"/>
                </a:solidFill>
              </a:defRPr>
            </a:pPr>
            <a:r>
              <a:t>   Switchable in one click from Login, Top Bar, or `Ctrl+T` shortcut.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2 •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Feature Showcase: Global Keyboard Shortcuts &amp; Ergonomics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011680"/>
                <a:gridCol w="475488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Combination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Action / Screen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 Accessibility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Ctrl +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Home /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Admin &amp;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Instantly returns to the main dashboard overview from any screen.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Ctrl + 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Refresh Active View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Admin &amp; Student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Reloads table datasets and metric counters directly from SQLite database.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Ctrl +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Open Students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Navigates directly to the Student Records management and CRUD console.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Ctrl + 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Open Fees Ledger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Administrator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Opens fee collections, pending invoice tracking, and receipt generation.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Ctrl +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Notifications Panel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Admin &amp;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Pulls up the broadcast announcement feed and personal notification alerts.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Ctrl + 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Toggle Theme Mode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Admin &amp; Student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Switches between Light and Dark mode without reloading the page state.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Ctrl +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Secure 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Admin &amp;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Destroys active session token and safely returns to the Login Gateway.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Ctrl + Q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Quit Application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All Users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Safely closes all database connections and shuts down application window.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2 •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Feature Showcase: User Profile &amp; Security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3756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👤 Identity &amp; Contact Info</a:t>
            </a:r>
          </a:p>
          <a:p>
            <a:pPr>
              <a:spcAft>
                <a:spcPts val="1200"/>
              </a:spcAft>
              <a:defRPr b="1" sz="1000">
                <a:solidFill>
                  <a:srgbClr val="4F46E5"/>
                </a:solidFill>
              </a:defRPr>
            </a:pPr>
            <a:r>
              <a:t>Profile Management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View registered full name, student ID, course, and hostel room information.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Edit and persist phone number, primary email address, and emergency contact details.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Auto-updates across both `users` and `students` tables in single atomic transaction.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Input format validation for phone (+91/10-digit) and standard RFC email format.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33756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🔒 Credential &amp; Password Guard</a:t>
            </a:r>
          </a:p>
          <a:p>
            <a:pPr>
              <a:spcAft>
                <a:spcPts val="1200"/>
              </a:spcAft>
              <a:defRPr b="1" sz="1000">
                <a:solidFill>
                  <a:srgbClr val="10B981"/>
                </a:solidFill>
              </a:defRPr>
            </a:pPr>
            <a:r>
              <a:t>Cryptographic Security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Self-service password update requiring existing password verification.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Enforces password strength: minimum 8 characters with numbers and symbols.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Hashes new passwords with high-cost salt using bcrypt library.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Admin can provision initial student passwords during new admissions.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71600"/>
            <a:ext cx="33375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371600"/>
            <a:ext cx="333756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60020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⚙️ Session &amp; Preferences</a:t>
            </a:r>
          </a:p>
          <a:p>
            <a:pPr>
              <a:spcAft>
                <a:spcPts val="1200"/>
              </a:spcAft>
              <a:defRPr b="1" sz="1000">
                <a:solidFill>
                  <a:srgbClr val="0D9488"/>
                </a:solidFill>
              </a:defRPr>
            </a:pPr>
            <a:r>
              <a:t>Customization Control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Manage persistent preferences including default startup screen and notification toasts.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Session revocation: Invalidate credentials immediately upon suspicious activity.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Audit trail logging: Timestamps track last password change and account updates.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✔ Data isolation prevents students from modifying administrative account flags.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1 &amp; 2 • WORKFLOW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Architecture &amp; Execution Flowchart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574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057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FFFF"/>
                </a:solidFill>
              </a:defRPr>
            </a:pPr>
            <a:r>
              <a:t>Step 1: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User enters credentials on dual-pane LoginView; role selected.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463040"/>
            <a:ext cx="20574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463040"/>
            <a:ext cx="20574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508760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FFFF"/>
                </a:solidFill>
              </a:defRPr>
            </a:pPr>
            <a:r>
              <a:t>Step 2: Auth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2024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Bcrypt verifies hash; session token issued with role scoping.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463040"/>
            <a:ext cx="20574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463040"/>
            <a:ext cx="205740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508760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FFFF"/>
                </a:solidFill>
              </a:defRPr>
            </a:pPr>
            <a:r>
              <a:t>Step 3: Route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92024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Role router opens Admin DashboardView or StudentDashboardView.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463040"/>
            <a:ext cx="20574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1463040"/>
            <a:ext cx="205740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508760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FFFF"/>
                </a:solidFill>
              </a:defRPr>
            </a:pPr>
            <a:r>
              <a:t>Step 4: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192024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Modules invoke `room_service`, `fee_service`, `student_service`.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463040"/>
            <a:ext cx="20574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463040"/>
            <a:ext cx="2057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508760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FFFFFF"/>
                </a:solidFill>
              </a:defRPr>
            </a:pPr>
            <a:r>
              <a:t>Step 5: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192024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SQLite executes atomic transactions with foreign key checks.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49039"/>
            <a:ext cx="106984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886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4F46E5"/>
                </a:solidFill>
              </a:defRPr>
            </a:pPr>
            <a:r>
              <a:t>🔄 Key System Operational Lifecycles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Room Allocation Lifecycle: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Admin selects student &amp; room → Capacity check (`occupied_beds &lt; capacity`) → Atomic INSERT into allocations → Increment `rooms.occupied_beds` → Update `students.room_number` &amp; `bed_number`.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Fee Payment &amp; Receipt Lifecycle: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Fee invoiced (`status='Unpaid'`) → Student/Admin records settlement → Verify amount → `fees.status` updated to 'Paid' or 'Partial' → Auto-generate PDF receipt via ReportLab → Audit log stored.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Grievance Resolution Lifecycle: 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   Student logs complaint with category &amp; priority → Real-time alert to Warden → Admin updates status to 'In Progress' → Maintenance completed → Admin enters resolution remarks → Status updated to 'Resolved'.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REVIEW 2 • CRUD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Review 2: Verification, Automated Testing &amp; Working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8404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10B981"/>
                </a:solidFill>
              </a:defRPr>
            </a:pPr>
            <a:r>
              <a:t>🧪 Automated Test Suite</a:t>
            </a:r>
          </a:p>
          <a:p>
            <a:pPr>
              <a:spcAft>
                <a:spcPts val="1200"/>
              </a:spcAft>
              <a:defRPr b="1" sz="2800">
                <a:solidFill>
                  <a:srgbClr val="10B981"/>
                </a:solidFill>
              </a:defRPr>
            </a:pPr>
            <a:r>
              <a:t>28 / 28 PASSED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Authentication &amp; RBAC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   Tested invalid passwords, role escalation prevention, and session token timeouts.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Student CRUD &amp; Scoping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   Tested student additions, duplicate email blocks, updates, and cascading room frees.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Room Capacity Integrity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   Tested zero over-allocation guarantees and atomic capacity adjustments.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Fee Calculation &amp; Ledger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   Tested partial vs full payment math, isolation between students, and zero-fee conditions.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Data Isolation Guarantees</a:t>
            </a:r>
          </a:p>
          <a:p>
            <a:pPr>
              <a:spcAft>
                <a:spcPts val="400"/>
              </a:spcAft>
              <a:defRPr sz="900">
                <a:solidFill>
                  <a:srgbClr val="64748B"/>
                </a:solidFill>
              </a:defRPr>
            </a:pPr>
            <a:r>
              <a:t>   Ensured student users cannot query other students' complaints, fees, or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371600"/>
            <a:ext cx="65836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4F46E5"/>
                </a:solidFill>
              </a:defRPr>
            </a:pPr>
            <a:r>
              <a:t>🚀 Working Application Deliverables Completed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1. Fully Functional Flet Desktop App: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Launched with `python main.py` or `.venv/Scripts/python app_flet.py`; native window with maximized default state.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2. Complete End-to-End CRUD: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Active user management, student admission &amp; records, live room &amp; bed matrix, and dues settlement.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3. Modern SaaS Presentation Tier: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Tokenized styling, responsive split-screen cards, dark/light theme switching, and interactive modal dialogs.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4. Role-Scoped Portals: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Separate, tailored experiences for Warden/Administrator (governance) and Student Residents (self-service).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5. Institutional Compliance Reporting: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Direct one-click CSV export and ReportLab PDF fee receipt generation.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6. Production-Ready Code Architecture: 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Clean separation of presentation (`flet_views/`), domain services (`services/`), and data storage (`database/`).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818CF8"/>
                </a:solidFill>
              </a:defRPr>
            </a:pPr>
            <a:r>
              <a:t>PROJECT SUMMARY &amp; FUTURE ROADMAP</a:t>
            </a:r>
          </a:p>
          <a:p>
            <a:pPr>
              <a:defRPr b="1" sz="3000">
                <a:solidFill>
                  <a:srgbClr val="FFFFFF"/>
                </a:solidFill>
              </a:defRPr>
            </a:pPr>
            <a:r>
              <a:t>Hostel Management System — Review 1 &amp; 2 Completed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4754880" cy="3657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10B981"/>
                </a:solidFill>
              </a:defRPr>
            </a:pPr>
            <a:r>
              <a:t>🌟 Completed Milestones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Comprehensive SRS with Functional &amp; Non-Functional specifications.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Modular folder architecture cleanly separating UI, business logic &amp; DB.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Full CRUD operations implemented and verified across 7 core modules.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Interactive role-scoped dashboards for Administrators and Students.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Modern SaaS UI with Light/Dark Theme toggle &amp; keyboard shortcuts.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Export engine generating CSV audits &amp; ReportLab PDF fee vouchers.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</a:defRPr>
            </a:pPr>
            <a:r>
              <a:t>✔ 100% test pass rate across 28 automated Pytest test suites.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468880"/>
            <a:ext cx="4846320" cy="3657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818CF8"/>
                </a:solidFill>
              </a:defRPr>
            </a:pPr>
            <a:r>
              <a:t>🚀 Future Scope &amp; Enhancements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Biometric &amp; RFID Attendance: 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   Hardware sensor integration for automated student turnstile check-ins and curfew tracking.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Online Payment Gateway: 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   Integration of Razorpay / UPI QR code generation for instant in-app fee settlement.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Automated SMS &amp; WhatsApp Alerts: 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   Instant notification dispatch to parents regarding night curfew leaves or fee dues.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AI Predictive Maintenance: 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   Predictive machine learning models to forecast hostel facility repairs before major breakdowns.</a:t>
            </a:r>
          </a:p>
          <a:p>
            <a:pPr>
              <a:defRPr b="1" sz="1000">
                <a:solidFill>
                  <a:srgbClr val="FFFFFF"/>
                </a:solidFill>
              </a:defRPr>
            </a:pPr>
            <a:r>
              <a:t>• Cross-Platform Mobile App: 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   Extending Flet presentation layer to iOS and Android resident mobile apps.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